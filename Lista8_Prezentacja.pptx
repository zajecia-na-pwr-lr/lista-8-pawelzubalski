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oval">
            <a:avLst/>
          </a:prstGeom>
          <a:solidFill>
            <a:srgbClr val="1D34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365760"/>
            <a:ext cx="2926080" cy="2926080"/>
          </a:xfrm>
          <a:prstGeom prst="oval">
            <a:avLst/>
          </a:prstGeom>
          <a:solidFill>
            <a:srgbClr val="243B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Maszynowe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8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własnego kodu z rozwiązaniami Kaggle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474720" cy="420624"/>
          </a:xfrm>
          <a:prstGeom prst="rect">
            <a:avLst/>
          </a:prstGeom>
          <a:solidFill>
            <a:srgbClr val="3A86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7980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↔  Mall Customer Segmentation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kaggle.com/datasets/vjchoudhary7/customer-segmentation-tutorial-in-python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600200" cy="34747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3840480"/>
            <a:ext cx="1600200" cy="34747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Preprocessing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3840480"/>
            <a:ext cx="1600200" cy="347472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Hiperparametry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3840480"/>
            <a:ext cx="1600200" cy="34747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3840480"/>
            <a:ext cx="1600200" cy="347472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Ewaluacja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Klasteryzacja • k-Means • AgglomerativeClustering • Silhouette • Purity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Wybrany konkurs Kaggle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7469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Moja lista (Lista 7)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Zbiór: Dry Bean Dataset (UCI)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13 611 próbek, 16 cech numerycznych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klas (gatunki fasoli)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Algorytmy: k-Means + Aglomeracyjny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Metryki: inercja, silhouette, purity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41732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777240"/>
            <a:ext cx="4206240" cy="32004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Mall Customer Segmentation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1152144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Zbiór: Mall_Customers.csv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klientów, cechy: wiek, dochód, wydatki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Nienadzorowane grupowanie klientów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445 000 wyświetleń, setki notebooków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typ problemu: klasteryzacja numeryczna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2743200"/>
            <a:ext cx="8686800" cy="4572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27706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Uzasadnienie: oba problemy = wielowymiarowe dane numeryczne + k-Means + hierarchiczne + metryki silhouette. Bogata baza notebooków umożliwia porównanie każdego etapu pipeline'u.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3337560"/>
            <a:ext cx="86868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" y="33375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Wskazane notebooki (5 kategorii)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3575304"/>
            <a:ext cx="1371600" cy="2194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" y="3575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91640" y="35935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kaggle.com/code/sonerkar/customer-segmentation-eda-clustering-kmeans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28600" y="3822192"/>
            <a:ext cx="1371600" cy="2194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228600" y="3822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691640" y="38404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kaggle.com/code/listonlt/mall-customers-segmentation-k-means-clustering  (219 ⭐)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28600" y="4069080"/>
            <a:ext cx="13716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91640" y="408736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kaggle.com/code/fazilbtopal/popular-unsupervised-clustering-algorithms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28600" y="4315968"/>
            <a:ext cx="1371600" cy="2194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228600" y="4315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91640" y="4334256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kaggle.com/code/kutlukatalay/customer-segmentation-kmeans-hierarchical-dbscan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28600" y="4562856"/>
            <a:ext cx="1371600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7"/>
          <p:cNvSpPr/>
          <p:nvPr/>
        </p:nvSpPr>
        <p:spPr>
          <a:xfrm>
            <a:off x="228600" y="4562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691640" y="4581144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kaggle.com/code/gadigevishalsai/mall-customer-segmentation-clustering-analysis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645920"/>
            <a:ext cx="640080" cy="640080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Eksploracyjna analiza danych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1762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Systematyczność vs. intuicja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4389120"/>
            <a:ext cx="109728" cy="109728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– porównanie kodu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sonerkar/customer-segmentation-eda-clustering-kmeans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023360" cy="256032"/>
          </a:xfrm>
          <a:prstGeom prst="rect">
            <a:avLst/>
          </a:prstGeom>
          <a:solidFill>
            <a:srgbClr val="27469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31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Mój kod (Lista 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02336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60704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Macierz korelacji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df[feature_cols].corr()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annot=True,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fmt='.2f', cmap='coolwarm')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ręcznie wybrane pary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axes[0].scatter(df['Area'],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df['Perimeter'], ...)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axes[1].scatter(df['roundness'],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df['Eccentricity'], ...)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brak analizy outlierów!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731520"/>
            <a:ext cx="4343400" cy="256032"/>
          </a:xfrm>
          <a:prstGeom prst="rect">
            <a:avLst/>
          </a:prstGeom>
          <a:solidFill>
            <a:srgbClr val="1A5C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731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Kaggle – Mall Customers EDA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87552"/>
            <a:ext cx="434340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60704"/>
            <a:ext cx="41605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Histogramy KDE dla każdej cechy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df.select_dtypes(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include=['float64','int64']).columns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num_cols: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sns.histplot(data=df, x=col,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kde=True)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 plot – wszystkie pary naraz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sns.pairplot(df, hue='Gender',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vars=['Age','Income','Score'])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Outlier detection (IQR)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Q1,Q3 = df.quantile([0.25,0.75])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df[df &gt; Q3+1.5*(Q3-Q1)]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457200" cy="457200"/>
          </a:xfrm>
          <a:prstGeom prst="oval">
            <a:avLst/>
          </a:prstGeom>
          <a:solidFill>
            <a:srgbClr val="F9731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82112"/>
            <a:ext cx="86868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182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Kluczowe różnice i co warto zastosować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419856"/>
            <a:ext cx="8686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465576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histogramy KDE per cecha → pełen przegląd rozkładów PRZED wyborem par; mój kod: 2 pary wybrane intuicyjnie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pair plot (seaborn.pairplot) pokazuje wszystkie kombinacje cech naraz; mój kod: ręczny wybór = ryzyko pominięcia ważnych par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jawna analiza outlierów przez IQR lub Z-score; mój kod: całkowity brak – outliery mogą tworzyć fałszywe klastry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Zastosowanie: dodać siatkę histogramów 4×4, box ploty per gatunek fasoli, sprawdzić outliery przez df[(df &gt; Q3+1.5*(Q3-Q1)).any(axis=1)]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kaggle.com/code/sonerkar/customer-segmentation-eda-clustering-kmeans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645920"/>
            <a:ext cx="640080" cy="640080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1762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korelacji i inżynieria cech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4389120"/>
            <a:ext cx="109728" cy="109728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– porównanie kodu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listonlt/mall-customers-segmentation-k-means-clustering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023360" cy="256032"/>
          </a:xfrm>
          <a:prstGeom prst="rect">
            <a:avLst/>
          </a:prstGeom>
          <a:solidFill>
            <a:srgbClr val="27469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31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Mój kod (Lista 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02336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60704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Tylko standaryzacja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df[feature_cols].values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y_true = df['Class'].values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PCA – tylko do wizualizacji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X_pca = pca.fit_transform(X_scaled)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16 cech – bez selekcji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brak analizy korelacji &gt; 0.95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731520"/>
            <a:ext cx="4343400" cy="256032"/>
          </a:xfrm>
          <a:prstGeom prst="rect">
            <a:avLst/>
          </a:prstGeom>
          <a:solidFill>
            <a:srgbClr val="1A5C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731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Kaggle – Mall Customers – preprocessing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87552"/>
            <a:ext cx="434340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60704"/>
            <a:ext cx="41605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Jawny wybór cech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df[['Annual Income',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'Spending Score']].values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RobustScaler – odporny na outliery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RobustScaler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RobustScaler()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PCA jako PREPROCESSING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PCA(n_components=0.95) # 95% var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X_pca = pca.fit_transform(X_scaled)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klastrowanie na X_pca, nie X_scaled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457200" cy="457200"/>
          </a:xfrm>
          <a:prstGeom prst="oval">
            <a:avLst/>
          </a:prstGeom>
          <a:solidFill>
            <a:srgbClr val="F9731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82112"/>
            <a:ext cx="86868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182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Kluczowe różnice i co warto zastosować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419856"/>
            <a:ext cx="8686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465576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świadomy wybór podzbioru cech (Annual Income + Spending Score); mój kod: wszystkie 16 cech bez uzasadnienia – cechy rozmiaru (Area, Perimeter, ConvexArea…) korelują r &gt; 0.95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RobustScaler (odporny na outliery) lub uzasadnienie wyboru StandardScaler; mój kod: StandardScaler bez komentarza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PCA(n_components=0.95) jako preprocessing → klasteryzacja w przestrzeni PC; mój kod: PCA tylko do wizualizacji 2D, klasteryzacja na 16 oryginalnych cechach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Zastosowanie: przetestować klasteryzację na (a) pełnym zbiorze, (b) cechach kształtu, (c) PCA 95% – porównać silhouette; zamienić StandardScaler → RobustScaler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kaggle.com/code/listonlt/mall-customers-segmentation-k-means-clustering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645920"/>
            <a:ext cx="640080" cy="640080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 hiperparametrów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1762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i automatyczna detekcja 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4389120"/>
            <a:ext cx="109728" cy="109728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Hiperparametry – porównanie kodu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fazilbtopal/popular-unsupervised-clustering-algorithms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023360" cy="256032"/>
          </a:xfrm>
          <a:prstGeom prst="rect">
            <a:avLst/>
          </a:prstGeom>
          <a:solidFill>
            <a:srgbClr val="27469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31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Mój kod (Lista 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02336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60704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k_values = range(2, 16)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inertias, silhouettes = [], []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k_values: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km = KMeans(n_clusters=k,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random_state=42, n_init=10)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km.fit(X_scaled)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inertias.append(km.inertia_)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sil = metrics.silhouette_score(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X_scaled, km.labels_,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sample_size=3000)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silhouettes.append(sil)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wybór k – ręczna inspekcja wykresu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BRAK dendrogramu dla aglomer.!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731520"/>
            <a:ext cx="4343400" cy="256032"/>
          </a:xfrm>
          <a:prstGeom prst="rect">
            <a:avLst/>
          </a:prstGeom>
          <a:solidFill>
            <a:srgbClr val="1A5C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731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Kaggle – Popular Unsupervised Algorithms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87552"/>
            <a:ext cx="434340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60704"/>
            <a:ext cx="41605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KElbowVisualizer – auto detekcja łokcia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yellowbrick.cluster import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KElbowVisualizer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 = KElbowVisualizer(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KMeans(), k=(2,10),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metric='silhouette')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viz.fit(X); viz.show()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Dendrogram dla aglomeracyjnego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scipy.cluster.hierarchy import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dendrogram, linkage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linkage(X_scaled, method='ward')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dendrogram(Z, truncate_mode='lastp',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p=20, show_leaf_counts=True)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odczytaj k z największej przerwy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457200" cy="457200"/>
          </a:xfrm>
          <a:prstGeom prst="oval">
            <a:avLst/>
          </a:prstGeom>
          <a:solidFill>
            <a:srgbClr val="F9731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82112"/>
            <a:ext cx="86868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182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Kluczowe różnice i co warto zastosować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419856"/>
            <a:ext cx="8686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465576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KElbowVisualizer automatycznie zaznacza optymalny punkt przegięcia – eliminuje subiektywność ręcznej oceny wykresu łokcia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LUKA: mój kod nie zawiera dendrogramu dla klasteryzacji aglomeracyjnej – dendrogram to naturalne i właściwe narzędzie wyboru k dla algorytmu hierarchicznego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badanie różnych linkage (ward, complete, average) z wyborem optymalnego; mój kod: tylko ward bez uzasadnienia przez dane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Zastosowanie: pip install yellowbrick → KElbowVisualizer; narysować dendrogram linkage(X_scaled,'ward') i odczytać k z największej przerwy między połączeniami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kaggle.com/code/fazilbtopal/popular-unsupervised-clustering-algorithms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645920"/>
            <a:ext cx="640080" cy="640080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Uczenie modelu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1762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i porównanie wielu algorytmów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4389120"/>
            <a:ext cx="109728" cy="109728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Uczenie modelu – porównanie kodu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kutlukatalay/customer-segmentation-kmeans-hierarchical-dbscan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023360" cy="256032"/>
          </a:xfrm>
          <a:prstGeom prst="rect">
            <a:avLst/>
          </a:prstGeom>
          <a:solidFill>
            <a:srgbClr val="27469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31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Mój kod (Lista 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02336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60704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k-Means (pełny zbiór)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KMeans(n_clusters=7,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random_state=42, n_init=10)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km.fit(X_scaled)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Aglomeracyjny – subsample 3000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rng.choice(len(X_scaled),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size=3000, replace=False)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 = AgglomerativeClustering(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n_clusters=7, metric='euclidean',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linkage='ward')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agg.fit_predict(X_sample)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BRAK DBSCAN, BRAK GMM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731520"/>
            <a:ext cx="4343400" cy="256032"/>
          </a:xfrm>
          <a:prstGeom prst="rect">
            <a:avLst/>
          </a:prstGeom>
          <a:solidFill>
            <a:srgbClr val="1A5C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731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Kaggle – KMeans + Hierarchical + DBScan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87552"/>
            <a:ext cx="434340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60704"/>
            <a:ext cx="41605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k-Means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init='k-means++', n_init=10)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km.fit(X_scaled)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AgglomerativeClustering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 = AgglomerativeClustering(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n_clusters=5)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agg.fit_predict(X_scaled)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DBSCAN – bez podawania k!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DBSCAN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DBSCAN(eps=0.5, min_samples=5)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db.fit_predict(X_scaled)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etykieta -1 = szum/outlier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= (labels == -1).sum()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457200" cy="457200"/>
          </a:xfrm>
          <a:prstGeom prst="oval">
            <a:avLst/>
          </a:prstGeom>
          <a:solidFill>
            <a:srgbClr val="F9731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82112"/>
            <a:ext cx="86868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182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Kluczowe różnice i co warto zastosować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419856"/>
            <a:ext cx="8686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465576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trzy algorytmy w jednym pipeline (KMeans + Agglomerative + DBSCAN) – bezpośrednie porównanie wyników na tych samych danych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nie wymaga podawania k, automatycznie wykrywa outliery (etykieta -1) – w Dry Bean odpowiadają ziarnom na granicach gatunków; mój kod: brak DBSCAN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klasteryzacja na różnych podzbiorach cech osobno (Income+Score, Age+Score…) – zestaw cech jako hiperparametr; mój kod: zawsze wszystkie 16 cech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Zastosowanie: dodać DBSCAN(eps=0.3, min_samples=5) na X_scaled fasoli i sprawdzić ile ziaren jest oznaczanych jako szum; porównać wyniki klasteryzacji na pełnym zbiorze vs. podziorze cech kształtu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kaggle.com/code/kutlukatalay/customer-segmentation-kmeans-hierarchical-dbscan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645920"/>
            <a:ext cx="640080" cy="640080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Ewaluacja modelu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1762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zamiast Purity – solidniejsza miara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4389120"/>
            <a:ext cx="109728" cy="109728"/>
          </a:xfrm>
          <a:prstGeom prst="oval">
            <a:avLst/>
          </a:prstGeom>
          <a:solidFill>
            <a:srgbClr val="3A8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4389120"/>
            <a:ext cx="109728" cy="109728"/>
          </a:xfrm>
          <a:prstGeom prst="oval">
            <a:avLst/>
          </a:prstGeom>
          <a:solidFill>
            <a:srgbClr val="3D5A99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Ewaluacja – porównanie kodu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gadigevishalsai/mall-customer-segmentation-clustering-analysis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023360" cy="256032"/>
          </a:xfrm>
          <a:prstGeom prst="rect">
            <a:avLst/>
          </a:prstGeom>
          <a:solidFill>
            <a:srgbClr val="274690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31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Mój kod (Lista 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02336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60704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metryki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 = metrics.silhouette_score(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X_scaled, km.labels_,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sample_size=3000)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Purity – własna implementacja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purity_score(y_true, y_pred):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 = contingency_matrix(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y_true, y_pred)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np.sum(np.max(cm,axis=0))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/ np.sum(cm)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UWAGA: purity rośnie sztucznie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przy zwiększaniu k!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BRAK: ARI, Davies-Bouldin, t-SNE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731520"/>
            <a:ext cx="4343400" cy="256032"/>
          </a:xfrm>
          <a:prstGeom prst="rect">
            <a:avLst/>
          </a:prstGeom>
          <a:solidFill>
            <a:srgbClr val="1A5C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7315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Kaggle – Clustering + Analysis (wielometryczna)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87552"/>
            <a:ext cx="4343400" cy="2103120"/>
          </a:xfrm>
          <a:prstGeom prst="rect">
            <a:avLst>
              <a:gd name="adj" fmla="val 2174"/>
            </a:avLst>
          </a:prstGeom>
          <a:solidFill>
            <a:srgbClr val="1E2D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60704"/>
            <a:ext cx="41605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silhouette_score,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adjusted_rand_score,   # ARI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davies_bouldin_score)  # DBI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 = silhouette_score(X, labels)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= adjusted_rand_score(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y_true, labels)  # nie rośnie z k!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dbi = davies_bouldin_score(X, labels)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t-SNE zamiast PCA 2D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sklearn.manifold import TSNE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X_tsne = TSNE(n_components=2,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random_state=42).fit_transform(X)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lepiej separuje klastry niż PCA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457200" cy="457200"/>
          </a:xfrm>
          <a:prstGeom prst="oval">
            <a:avLst/>
          </a:prstGeom>
          <a:solidFill>
            <a:srgbClr val="F9731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82112"/>
            <a:ext cx="86868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182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Kluczowe różnice i co warto zastosować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419856"/>
            <a:ext cx="8686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465576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WADA purity: rośnie mechanicznie przy zwiększaniu k (dla k=13611 purity=1.0 zawsze) – może dawać błędne wnioski o 'optymalnym' 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(Adjusted Rand Index) jest odporny na przypadkową zgodność i nie rośnie z k – sklearn.metrics.adjusted_rand_score(y_true, labels)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Index: szybszy niż silhouette (nie wymaga próbkowania), uzupełnia ocenę – davies_bouldin_score(X_scaled, labels), niższe = lepsze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zamiast PCA 2D do wizualizacji – t-SNE zachowuje lokalne struktury; w Dry Bean znacznie wyraźniej separuje 7 gatunków niż rzut na pierwsze 2 PC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kaggle.com/code/gadigevishalsai/mall-customer-segmentation-clustering-analysis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Podsumowanie porównania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8686800" cy="310896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310896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Obszar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Mój kod (Lista 7)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Kaggle – kluczowa różnica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Luka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Heatmapa + 2 scatter (intuicja)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Hist. KDE + pair plot + outliery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outl.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Preprocessing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StandardScaler, 16 cech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RobustScaler, selekcja, PCA prep.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red. korel.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Hiperparametry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Ręczna inspekcja wykresów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KElbowVisualizer + dendrogram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dendrogr.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KMeans + Agglomerative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DBSCAN, podzbiory cech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DBSCAN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Ewaluacja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+ Purity (↑ z 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ARI + Davies-Bouldin + t-SNE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Purity podatne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023360"/>
            <a:ext cx="8686800" cy="23774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40233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Czynniki najsilniej wpływające na wyniki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" y="4315968"/>
            <a:ext cx="8686800" cy="228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334256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" y="43251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PCA lub selekcja cech drastycznie poprawia silhouette przy wysokiej korelacji (r &gt; 0.95 dla cech rozmiaru w Dry Bean)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28600" y="4572000"/>
            <a:ext cx="8686800" cy="228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9028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" y="4581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Metryka: ARI jest solidniejszą miarą zewnętrzną niż Purity – Purity sztucznie rośnie z k i może dawać błędne wnioski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4632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2064" y="4837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to standard dla algorytmu hierarchicznego – jego brak to największa metodologiczna luka w analizie Lista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Uczenie Maszynowe – Lista 8</dc:title>
  <dc:subject>PptxGenJS Presentation</dc:subject>
  <dc:creator>PptxGenJS</dc:creator>
  <cp:lastModifiedBy>PptxGenJS</cp:lastModifiedBy>
  <cp:revision>1</cp:revision>
  <dcterms:created xsi:type="dcterms:W3CDTF">2026-06-25T11:26:28Z</dcterms:created>
  <dcterms:modified xsi:type="dcterms:W3CDTF">2026-06-25T11:26:28Z</dcterms:modified>
</cp:coreProperties>
</file>